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3d1b3d31974ffd" /><Relationship Type="http://schemas.openxmlformats.org/officeDocument/2006/relationships/extended-properties" Target="/docProps/app.xml" Id="R9381ad0ef3584d0b" /><Relationship Type="http://schemas.openxmlformats.org/officeDocument/2006/relationships/officeDocument" Target="/ppt/presentation.xml" Id="Redd1aec6f4314b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10968ca7d740a7"/>
  </p:sldMasterIdLst>
  <p:notesMasterIdLst>
    <p:notesMasterId xmlns:r="http://schemas.openxmlformats.org/officeDocument/2006/relationships" r:id="R413e6fe38faa4b0f"/>
  </p:notesMasterIdLst>
  <p:sldIdLst>
    <p:sldId xmlns:r="http://schemas.openxmlformats.org/officeDocument/2006/relationships" id="256" r:id="R0007ecc7dbc64703"/>
  </p:sldIdLst>
  <p:sldSz cx="15074900" cy="20104100"/>
  <p:notesSz cx="6858000" cy="9144000"/>
  <p:defaultTextStyle>
    <a:defPPr xmlns:a="http://schemas.openxmlformats.org/drawingml/2006/main">
      <a:buNone/>
      <a:defRPr kern="0"/>
    </a:def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4cc134d1564394" /><Relationship Type="http://schemas.openxmlformats.org/officeDocument/2006/relationships/slideMaster" Target="/ppt/slideMasters/slideMaster1.xml" Id="R0b10968ca7d740a7" /><Relationship Type="http://schemas.openxmlformats.org/officeDocument/2006/relationships/notesMaster" Target="/ppt/notesMasters/notesMaster1.xml" Id="R413e6fe38faa4b0f" /><Relationship Type="http://schemas.openxmlformats.org/officeDocument/2006/relationships/presProps" Target="/ppt/presProps.xml" Id="R5d0e87fa38c54acd" /><Relationship Type="http://schemas.openxmlformats.org/officeDocument/2006/relationships/viewProps" Target="/ppt/viewProps.xml" Id="R0f47ad5425bb4651" /><Relationship Type="http://schemas.openxmlformats.org/officeDocument/2006/relationships/tableStyles" Target="/ppt/tableStyles.xml" Id="R317bfe06f6bb42f9" /><Relationship Type="http://schemas.openxmlformats.org/officeDocument/2006/relationships/slide" Target="/ppt/slides/slide1.xml" Id="R0007ecc7dbc647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ceaba0b01347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77dce373e04864" /><Relationship Type="http://schemas.openxmlformats.org/officeDocument/2006/relationships/notesMaster" Target="/ppt/notesMasters/notesMaster1.xml" Id="Rec7ad79ffaa94c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62fb3321cb4b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428607f9240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96018ccca540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2e6919d3654b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e00bd248284ed3" /></Relationships>
</file>

<file path=ppt/slideLayouts/slideLayout1.xml><?xml version="1.0" encoding="utf-8"?>
<p:sldLayout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5DD068C6-08D4-4442-8FC1-514B961C0CC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31093" y="6232271"/>
            <a:ext cx="12819063" cy="42218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84709674-C702-41CA-A945-05B3F6344E6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2262187" y="11258296"/>
            <a:ext cx="10556875" cy="5026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2A19294-1434-41F9-A4A0-283AEE0DF8DC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B57BD79F-C183-4058-9540-009C40ADAA6B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10/23/2025</a:t>
            </a:fld>
            <a:endParaRPr/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746240ED-CB31-4DA7-B906-0313A7BAD3B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AF78E379-9BDB-415E-BF24-CEBDEEDFB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050F18B9-D159-4F6D-899F-CD82E33193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403022E6-1418-458D-9FDD-B67C9DEA229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AB78D926-2A2F-456B-99CF-5E9E38481120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10/23/2025</a:t>
            </a:fld>
            <a:endParaRPr/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6D7EEEAB-4B8E-485E-8FB5-21237A2954BF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4A606340-F829-4FA4-8F64-0FD42C0CB2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AA7C9CD1-B180-43FD-B3E4-356E190464D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754062" y="4623943"/>
            <a:ext cx="6560344" cy="132687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08B0A24A-FD85-4119-9961-8ADB92FD46D5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7766843" y="4623943"/>
            <a:ext cx="6560344" cy="132687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A85CF72F-B364-40A4-8756-F3D5B6750251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D61CD93F-1209-4515-A2BD-F5551CFFEDE3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10/23/2025</a:t>
            </a:fld>
            <a:endParaRPr/>
          </a:p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CA6AB6E7-C589-4071-92E1-216A14254D2B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98C951A3-7EF0-4CF3-B22E-1BA63C8F9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CA45F591-801A-4496-A4E7-346DD90F940A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FF0950EE-2FA4-4A4D-961B-CBDE738AA1B9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10/23/2025</a:t>
            </a:fld>
            <a:endParaRPr/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0594A352-5EDC-4656-8D40-D1DD5B632E7A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9D9EB49-D1C6-4760-8830-06011382F4C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070EE3BB-AE18-43BE-89F0-704E6E5F6B22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10/23/2025</a:t>
            </a:fld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0A81F604-EFBB-44EF-8659-1F8120A498D6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6ae7517cae404784" /><Relationship Type="http://schemas.openxmlformats.org/officeDocument/2006/relationships/theme" Target="/ppt/slideMasters/theme/theme2.xml" Id="Rab3d886b019c4eed" /><Relationship Type="http://schemas.openxmlformats.org/officeDocument/2006/relationships/slideLayout" Target="/ppt/slideLayouts/slideLayout1.xml" Id="R4b1237714d8745e0" /><Relationship Type="http://schemas.openxmlformats.org/officeDocument/2006/relationships/slideLayout" Target="/ppt/slideLayouts/slideLayout2.xml" Id="R875d4b2e5d1d4218" /><Relationship Type="http://schemas.openxmlformats.org/officeDocument/2006/relationships/slideLayout" Target="/ppt/slideLayouts/slideLayout3.xml" Id="R3ce95c29924944c6" /><Relationship Type="http://schemas.openxmlformats.org/officeDocument/2006/relationships/slideLayout" Target="/ppt/slideLayouts/slideLayout4.xml" Id="R9009f57ff9774e63" /><Relationship Type="http://schemas.openxmlformats.org/officeDocument/2006/relationships/slideLayout" Target="/ppt/slideLayouts/slideLayout5.xml" Id="Ra24a4d4433aa41e0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g object 16">
            <a:extLst xmlns:a="http://schemas.openxmlformats.org/drawingml/2006/main">
              <a:ext uri="{FF2B5EF4-FFF2-40B4-BE49-F238E27FC236}">
                <a16:creationId xmlns:a16="http://schemas.microsoft.com/office/drawing/2014/main" id="{09C435FB-5654-4B73-905A-73B87E935D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7517cae4047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6"/>
            <a:ext cx="15077189" cy="20103982"/>
          </a:xfrm>
          <a:prstGeom xmlns:a="http://schemas.openxmlformats.org/drawingml/2006/main" prst="rect">
            <a:avLst/>
          </a:prstGeom>
        </p:spPr>
      </p:pic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88556B09-7EA9-418D-8971-2017A57363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4062" y="804164"/>
            <a:ext cx="13573125" cy="32166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9E434FC1-3A2A-4BAB-981B-1D75550127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4062" y="4623943"/>
            <a:ext cx="13573125" cy="132687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B94E31B1-30A2-49D4-B4C2-BE3AF1553C1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5127625" y="18696814"/>
            <a:ext cx="4826000" cy="1005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9130C32E-76B8-46C8-889A-AC24878463F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754062" y="18696814"/>
            <a:ext cx="3468687" cy="1005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10/23/2025</a:t>
            </a:fld>
            <a:endParaRPr/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14F42B9B-9091-423D-8D3B-9CBF8681C913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10858500" y="18696814"/>
            <a:ext cx="3468687" cy="1005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1237714d8745e0"/>
    <p:sldLayoutId xmlns:r="http://schemas.openxmlformats.org/officeDocument/2006/relationships" id="2147483650" r:id="R875d4b2e5d1d4218"/>
    <p:sldLayoutId xmlns:r="http://schemas.openxmlformats.org/officeDocument/2006/relationships" id="2147483651" r:id="R3ce95c29924944c6"/>
    <p:sldLayoutId xmlns:r="http://schemas.openxmlformats.org/officeDocument/2006/relationships" id="2147483652" r:id="R9009f57ff9774e63"/>
    <p:sldLayoutId xmlns:r="http://schemas.openxmlformats.org/officeDocument/2006/relationships" id="2147483653" r:id="Ra24a4d4433aa41e0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5d8bc1dd87e4bf9" /><Relationship Type="http://schemas.openxmlformats.org/officeDocument/2006/relationships/image" Target="/ppt/media/image.png" Id="R3f348685e6704d73" /><Relationship Type="http://schemas.openxmlformats.org/officeDocument/2006/relationships/image" Target="/ppt/media/image2.png" Id="Rd8f43553b2674fa8" /><Relationship Type="http://schemas.openxmlformats.org/officeDocument/2006/relationships/image" Target="/ppt/media/image3.png" Id="R29d00d1ce472428f" /><Relationship Type="http://schemas.openxmlformats.org/officeDocument/2006/relationships/image" Target="/ppt/media/image4.png" Id="Rd5e5fc6cfa414a3b" /><Relationship Type="http://schemas.openxmlformats.org/officeDocument/2006/relationships/image" Target="/ppt/media/image5.png" Id="Ra95ed9c0a3e84f9e" /><Relationship Type="http://schemas.openxmlformats.org/officeDocument/2006/relationships/notesSlide" Target="/ppt/notesSlides/notesSlide1.xml" Id="R4f17aadb378f41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D55BD610-C5A2-4FEF-97BE-EACC1940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79" y="2341374"/>
            <a:ext cx="13335000" cy="24568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 anchor="t">
            <a:spAutoFit/>
          </a:bodyPr>
          <a:lstStyle xmlns:a="http://schemas.openxmlformats.org/drawingml/2006/main"/>
          <a:p xmlns:a="http://schemas.openxmlformats.org/drawingml/2006/main">
            <a:pPr marL="2193290" algn="l">
              <a:lnSpc>
                <a:spcPct val="100000"/>
              </a:lnSpc>
              <a:spcBef>
                <a:spcPts val="90"/>
              </a:spcBef>
              <a:buNone/>
            </a:pPr>
            <a:r>
              <a:rPr sz="3600" spc="-10">
                <a:solidFill>
                  <a:srgbClr val="09662E"/>
                </a:solidFill>
                <a:latin typeface="+mn-lt"/>
                <a:ea typeface="+mn-lt"/>
                <a:cs typeface="+mn-lt"/>
              </a:rPr>
              <a:t>SmartStock</a:t>
            </a:r>
            <a:r>
              <a:rPr sz="3600" spc="-10">
                <a:solidFill>
                  <a:srgbClr val="09662E"/>
                </a:solidFill>
                <a:latin typeface="+mn-lt"/>
                <a:ea typeface="+mn-lt"/>
                <a:cs typeface="+mn-lt"/>
              </a:rPr>
              <a:t>: </a:t>
            </a:r>
            <a:r>
              <a:rPr sz="3600" spc="-10">
                <a:solidFill>
                  <a:srgbClr val="09662E"/>
                </a:solidFill>
                <a:latin typeface="+mn-lt"/>
                <a:ea typeface="+mn-lt"/>
                <a:cs typeface="+mn-lt"/>
              </a:rPr>
              <a:t>Sistema móvil</a:t>
            </a:r>
            <a:r>
              <a:rPr sz="3600" spc="-10">
                <a:solidFill>
                  <a:srgbClr val="09662E"/>
                </a:solidFill>
                <a:latin typeface="+mn-lt"/>
                <a:ea typeface="+mn-lt"/>
                <a:cs typeface="+mn-lt"/>
              </a:rPr>
              <a:t> de gestión de inventarios</a:t>
            </a:r>
          </a:p>
          <a:p xmlns:a="http://schemas.openxmlformats.org/drawingml/2006/main">
            <a:pPr marL="12700">
              <a:lnSpc>
                <a:spcPts val="2525"/>
              </a:lnSpc>
              <a:spcBef>
                <a:spcPts val="5"/>
              </a:spcBef>
              <a:buNone/>
            </a:pPr>
            <a:endParaRPr sz="2200" b="1"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700" algn="l">
              <a:lnSpc>
                <a:spcPts val="2525"/>
              </a:lnSpc>
              <a:spcBef>
                <a:spcPts val="5"/>
              </a:spcBef>
              <a:buNone/>
            </a:pPr>
            <a:r>
              <a:rPr sz="2200" b="1">
                <a:latin typeface="+mn-lt"/>
                <a:ea typeface="+mn-lt"/>
                <a:cs typeface="+mn-lt"/>
              </a:rPr>
              <a:t>Docente</a:t>
            </a:r>
            <a:r>
              <a:rPr sz="2200" b="1" spc="35">
                <a:latin typeface="+mn-lt"/>
                <a:ea typeface="+mn-lt"/>
                <a:cs typeface="+mn-lt"/>
              </a:rPr>
              <a:t> </a:t>
            </a:r>
            <a:r>
              <a:rPr sz="2200" b="1">
                <a:latin typeface="+mn-lt"/>
                <a:ea typeface="+mn-lt"/>
                <a:cs typeface="+mn-lt"/>
              </a:rPr>
              <a:t>asesor:</a:t>
            </a:r>
            <a:r>
              <a:rPr sz="2200" b="1" spc="35">
                <a:latin typeface="+mn-lt"/>
                <a:ea typeface="+mn-lt"/>
                <a:cs typeface="+mn-lt"/>
              </a:rPr>
              <a:t> </a:t>
            </a:r>
            <a:r>
              <a:rPr sz="2200">
                <a:latin typeface="+mn-lt"/>
                <a:ea typeface="+mn-lt"/>
                <a:cs typeface="+mn-lt"/>
              </a:rPr>
              <a:t>Jo</a:t>
            </a:r>
            <a:r>
              <a:rPr sz="2200">
                <a:latin typeface="+mn-lt"/>
                <a:ea typeface="+mn-lt"/>
                <a:cs typeface="+mn-lt"/>
              </a:rPr>
              <a:t>nattan</a:t>
            </a:r>
            <a:r>
              <a:rPr sz="2200">
                <a:latin typeface="+mn-lt"/>
                <a:ea typeface="+mn-lt"/>
                <a:cs typeface="+mn-lt"/>
              </a:rPr>
              <a:t> Usma </a:t>
            </a:r>
            <a:r>
              <a:rPr sz="2200">
                <a:latin typeface="+mn-lt"/>
                <a:ea typeface="+mn-lt"/>
                <a:cs typeface="+mn-lt"/>
              </a:rPr>
              <a:t>Vasquez</a:t>
            </a:r>
            <a:endParaRPr sz="2200">
              <a:latin typeface="+mn-lt"/>
              <a:ea typeface="+mn-lt"/>
              <a:cs typeface="+mn-lt"/>
            </a:endParaRPr>
          </a:p>
          <a:p xmlns:a="http://schemas.openxmlformats.org/drawingml/2006/main">
            <a:pPr marL="12700" algn="l">
              <a:lnSpc>
                <a:spcPts val="2525"/>
              </a:lnSpc>
              <a:spcBef>
                <a:spcPts val="5"/>
              </a:spcBef>
              <a:buNone/>
            </a:pPr>
            <a:r>
              <a:rPr sz="2200" b="1">
                <a:latin typeface="+mn-lt"/>
                <a:ea typeface="+mn-lt"/>
                <a:cs typeface="+mn-lt"/>
              </a:rPr>
              <a:t>Integrantes: </a:t>
            </a:r>
            <a:r>
              <a:rPr sz="2200" b="1">
                <a:latin typeface="+mn-lt"/>
                <a:ea typeface="+mn-lt"/>
                <a:cs typeface="+mn-lt"/>
              </a:rPr>
              <a:t>David Naranjo, Manuela Camargo</a:t>
            </a:r>
            <a:r>
              <a:rPr sz="2200" b="1">
                <a:latin typeface="+mn-lt"/>
                <a:ea typeface="+mn-lt"/>
                <a:cs typeface="+mn-lt"/>
              </a:rPr>
              <a:t> </a:t>
            </a:r>
            <a:endParaRPr sz="2200">
              <a:latin typeface="+mn-lt"/>
              <a:ea typeface="+mn-lt"/>
              <a:cs typeface="+mn-lt"/>
            </a:endParaRPr>
          </a:p>
          <a:p xmlns:a="http://schemas.openxmlformats.org/drawingml/2006/main">
            <a:pPr marL="12700">
              <a:lnSpc>
                <a:spcPts val="2410"/>
              </a:lnSpc>
              <a:buNone/>
            </a:pPr>
            <a:r>
              <a:rPr sz="2200" b="1">
                <a:latin typeface="+mn-lt"/>
                <a:ea typeface="+mn-lt"/>
                <a:cs typeface="+mn-lt"/>
              </a:rPr>
              <a:t>Asignatura</a:t>
            </a:r>
            <a:r>
              <a:rPr sz="2200" b="1">
                <a:latin typeface="+mn-lt"/>
                <a:ea typeface="+mn-lt"/>
                <a:cs typeface="+mn-lt"/>
              </a:rPr>
              <a:t>:</a:t>
            </a:r>
            <a:r>
              <a:rPr sz="2200" b="1" spc="15">
                <a:latin typeface="+mn-lt"/>
                <a:ea typeface="+mn-lt"/>
                <a:cs typeface="+mn-lt"/>
              </a:rPr>
              <a:t> </a:t>
            </a:r>
            <a:r>
              <a:rPr sz="2200" b="1" spc="15">
                <a:latin typeface="+mn-lt"/>
                <a:ea typeface="+mn-lt"/>
                <a:cs typeface="+mn-lt"/>
              </a:rPr>
              <a:t>Desarrollo móvil</a:t>
            </a:r>
            <a:endParaRPr sz="2200">
              <a:latin typeface="+mn-lt"/>
              <a:ea typeface="+mn-lt"/>
              <a:cs typeface="+mn-lt"/>
            </a:endParaRPr>
          </a:p>
          <a:p xmlns:a="http://schemas.openxmlformats.org/drawingml/2006/main">
            <a:pPr marL="12700">
              <a:lnSpc>
                <a:spcPts val="2410"/>
              </a:lnSpc>
              <a:buNone/>
            </a:pPr>
            <a:r>
              <a:rPr sz="2200" b="1">
                <a:latin typeface="+mn-lt"/>
                <a:ea typeface="+mn-lt"/>
                <a:cs typeface="+mn-lt"/>
              </a:rPr>
              <a:t>Programa</a:t>
            </a:r>
            <a:r>
              <a:rPr sz="2200" b="1" spc="35">
                <a:latin typeface="+mn-lt"/>
                <a:ea typeface="+mn-lt"/>
                <a:cs typeface="+mn-lt"/>
              </a:rPr>
              <a:t> </a:t>
            </a:r>
            <a:r>
              <a:rPr sz="2200" b="1">
                <a:latin typeface="+mn-lt"/>
                <a:ea typeface="+mn-lt"/>
                <a:cs typeface="+mn-lt"/>
              </a:rPr>
              <a:t>académico</a:t>
            </a:r>
            <a:r>
              <a:rPr sz="2200" b="1">
                <a:latin typeface="+mn-lt"/>
                <a:ea typeface="+mn-lt"/>
                <a:cs typeface="+mn-lt"/>
              </a:rPr>
              <a:t>:</a:t>
            </a:r>
            <a:r>
              <a:rPr sz="2200" b="1" spc="45">
                <a:latin typeface="+mn-lt"/>
                <a:ea typeface="+mn-lt"/>
                <a:cs typeface="+mn-lt"/>
              </a:rPr>
              <a:t> </a:t>
            </a:r>
            <a:r>
              <a:rPr sz="2200">
                <a:latin typeface="+mn-lt"/>
                <a:ea typeface="+mn-lt"/>
                <a:cs typeface="+mn-lt"/>
              </a:rPr>
              <a:t>Ingeniería</a:t>
            </a:r>
            <a:r>
              <a:rPr sz="2200" spc="35">
                <a:latin typeface="+mn-lt"/>
                <a:ea typeface="+mn-lt"/>
                <a:cs typeface="+mn-lt"/>
              </a:rPr>
              <a:t> </a:t>
            </a:r>
            <a:r>
              <a:rPr sz="2200">
                <a:latin typeface="+mn-lt"/>
                <a:ea typeface="+mn-lt"/>
                <a:cs typeface="+mn-lt"/>
              </a:rPr>
              <a:t>en</a:t>
            </a:r>
            <a:r>
              <a:rPr sz="2200">
                <a:latin typeface="+mn-lt"/>
                <a:ea typeface="+mn-lt"/>
                <a:cs typeface="+mn-lt"/>
              </a:rPr>
              <a:t> </a:t>
            </a:r>
            <a:r>
              <a:rPr sz="2200" spc="-10">
                <a:latin typeface="+mn-lt"/>
                <a:ea typeface="+mn-lt"/>
                <a:cs typeface="+mn-lt"/>
              </a:rPr>
              <a:t>software</a:t>
            </a:r>
            <a:endParaRPr sz="2200">
              <a:latin typeface="+mn-lt"/>
              <a:ea typeface="+mn-lt"/>
              <a:cs typeface="+mn-lt"/>
            </a:endParaRPr>
          </a:p>
          <a:p xmlns:a="http://schemas.openxmlformats.org/drawingml/2006/main">
            <a:pPr marL="12700">
              <a:lnSpc>
                <a:spcPts val="2525"/>
              </a:lnSpc>
              <a:buNone/>
            </a:pPr>
            <a:r>
              <a:rPr sz="2200" b="1">
                <a:latin typeface="+mn-lt"/>
                <a:ea typeface="+mn-lt"/>
                <a:cs typeface="+mn-lt"/>
              </a:rPr>
              <a:t>Facultad:</a:t>
            </a:r>
            <a:r>
              <a:rPr sz="2200" b="1" spc="-10">
                <a:latin typeface="+mn-lt"/>
                <a:ea typeface="+mn-lt"/>
                <a:cs typeface="+mn-lt"/>
              </a:rPr>
              <a:t> </a:t>
            </a:r>
            <a:r>
              <a:rPr sz="2200" spc="-10">
                <a:latin typeface="+mn-lt"/>
                <a:ea typeface="+mn-lt"/>
                <a:cs typeface="+mn-lt"/>
              </a:rPr>
              <a:t>Ingeniería</a:t>
            </a:r>
            <a:endParaRPr sz="2200">
              <a:latin typeface="+mn-lt"/>
              <a:ea typeface="+mn-lt"/>
              <a:cs typeface="+mn-lt"/>
            </a:endParaRPr>
          </a:p>
        </p:txBody>
      </p:sp>
      <p:pic>
        <p:nvPic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1628ACAC-C0B0-4B63-BD24-E4A5B9DEE7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48685e6704d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927494" y="17792146"/>
            <a:ext cx="4728509" cy="948745"/>
          </a:xfrm>
          <a:prstGeom xmlns:a="http://schemas.openxmlformats.org/drawingml/2006/main" prst="rect">
            <a:avLst/>
          </a:prstGeom>
        </p:spPr>
      </p:pic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326632EE-5961-4BCB-9E6D-70EF69EE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780" y="5327650"/>
            <a:ext cx="6243320" cy="554990"/>
          </a:xfrm>
          <a:custGeom xmlns:a="http://schemas.openxmlformats.org/drawingml/2006/main">
            <a:rect l="l" t="t" r="r" b="b"/>
            <a:pathLst>
              <a:path w="6243320" h="554990">
                <a:moveTo>
                  <a:pt x="6150720" y="0"/>
                </a:moveTo>
                <a:lnTo>
                  <a:pt x="92434" y="0"/>
                </a:lnTo>
                <a:lnTo>
                  <a:pt x="56449" y="7261"/>
                </a:lnTo>
                <a:lnTo>
                  <a:pt x="27068" y="27060"/>
                </a:lnTo>
                <a:lnTo>
                  <a:pt x="7262" y="56424"/>
                </a:lnTo>
                <a:lnTo>
                  <a:pt x="0" y="92375"/>
                </a:lnTo>
                <a:lnTo>
                  <a:pt x="0" y="461994"/>
                </a:lnTo>
                <a:lnTo>
                  <a:pt x="7262" y="497979"/>
                </a:lnTo>
                <a:lnTo>
                  <a:pt x="27068" y="527359"/>
                </a:lnTo>
                <a:lnTo>
                  <a:pt x="56449" y="547166"/>
                </a:lnTo>
                <a:lnTo>
                  <a:pt x="92434" y="554428"/>
                </a:lnTo>
                <a:lnTo>
                  <a:pt x="6150720" y="554428"/>
                </a:lnTo>
                <a:lnTo>
                  <a:pt x="6186706" y="547166"/>
                </a:lnTo>
                <a:lnTo>
                  <a:pt x="6216086" y="527359"/>
                </a:lnTo>
                <a:lnTo>
                  <a:pt x="6235893" y="497979"/>
                </a:lnTo>
                <a:lnTo>
                  <a:pt x="6243155" y="461994"/>
                </a:lnTo>
                <a:lnTo>
                  <a:pt x="6243155" y="92375"/>
                </a:lnTo>
                <a:lnTo>
                  <a:pt x="6235893" y="56424"/>
                </a:lnTo>
                <a:lnTo>
                  <a:pt x="6216086" y="27060"/>
                </a:lnTo>
                <a:lnTo>
                  <a:pt x="6186706" y="7261"/>
                </a:lnTo>
                <a:lnTo>
                  <a:pt x="6150720" y="0"/>
                </a:lnTo>
                <a:close/>
              </a:path>
            </a:pathLst>
          </a:custGeom>
          <a:solidFill xmlns:a="http://schemas.openxmlformats.org/drawingml/2006/main">
            <a:srgbClr val="09662E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DB5416AF-28F8-4A84-ABA1-374313E8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04" y="5240018"/>
            <a:ext cx="6097270" cy="2333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3830" rIns="0" bIns="0">
            <a:spAutoFit/>
          </a:bodyPr>
          <a:lstStyle xmlns:a="http://schemas.openxmlformats.org/drawingml/2006/main"/>
          <a:p xmlns:a="http://schemas.openxmlformats.org/drawingml/2006/main">
            <a:pPr marL="26034">
              <a:lnSpc>
                <a:spcPct val="100000"/>
              </a:lnSpc>
              <a:spcBef>
                <a:spcPts val="1290"/>
              </a:spcBef>
              <a:buNone/>
            </a:pPr>
            <a:r>
              <a:rPr sz="3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</a:t>
            </a:r>
            <a:r>
              <a:rPr sz="3050" b="1" spc="-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050" b="1" spc="-1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INTRODUCCIÓN.</a:t>
            </a:r>
            <a:endParaRPr sz="3050"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700" marR="5080" algn="just">
              <a:lnSpc>
                <a:spcPct val="90200"/>
              </a:lnSpc>
              <a:spcBef>
                <a:spcPts val="650"/>
              </a:spcBef>
              <a:buNone/>
            </a:pPr>
            <a:r>
              <a:rPr b="1">
                <a:latin typeface="+mn-lt"/>
                <a:ea typeface="+mn-lt"/>
                <a:cs typeface="+mn-lt"/>
              </a:rPr>
              <a:t>SmartStock es una aplicación móvil diseñada para optimizar el control de inventarios en pequeñas y medianas empresas. Centraliza la información de clientes, productos, compras y estadísticas para facilitar el seguimiento del inventario y la toma de decisiones.</a:t>
            </a:r>
            <a:endParaRPr>
              <a:latin typeface="+mn-lt"/>
              <a:ea typeface="+mn-lt"/>
              <a:cs typeface="+mn-lt"/>
            </a:endParaRPr>
          </a:p>
          <a:p xmlns:a="http://schemas.openxmlformats.org/drawingml/2006/main">
            <a:pPr marL="12700" marR="5080" algn="just">
              <a:lnSpc>
                <a:spcPct val="90200"/>
              </a:lnSpc>
              <a:spcBef>
                <a:spcPts val="650"/>
              </a:spcBef>
              <a:buNone/>
            </a:pPr>
            <a:r>
              <a:rPr>
                <a:latin typeface="+mn-lt"/>
                <a:ea typeface="+mn-lt"/>
                <a:cs typeface="+mn-lt"/>
              </a:rPr>
              <a:t>La herramienta surge ante la necesidad de reducir errores y demoras derivados del manejo manual de inventarios. Con una interfaz clara, SmartStock permite al administrador gestionar el negocio y a los clientes consultar productos y registrar sus compras.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91C3E2BD-7382-4EB3-B96E-4C5044AD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80" y="9231782"/>
            <a:ext cx="6243320" cy="554990"/>
          </a:xfrm>
          <a:custGeom xmlns:a="http://schemas.openxmlformats.org/drawingml/2006/main">
            <a:rect l="l" t="t" r="r" b="b"/>
            <a:pathLst>
              <a:path w="6243320" h="554990">
                <a:moveTo>
                  <a:pt x="6150720" y="0"/>
                </a:moveTo>
                <a:lnTo>
                  <a:pt x="92375" y="0"/>
                </a:lnTo>
                <a:lnTo>
                  <a:pt x="56424" y="7262"/>
                </a:lnTo>
                <a:lnTo>
                  <a:pt x="27060" y="27068"/>
                </a:lnTo>
                <a:lnTo>
                  <a:pt x="7261" y="56449"/>
                </a:lnTo>
                <a:lnTo>
                  <a:pt x="0" y="92434"/>
                </a:lnTo>
                <a:lnTo>
                  <a:pt x="0" y="461994"/>
                </a:lnTo>
                <a:lnTo>
                  <a:pt x="7261" y="497979"/>
                </a:lnTo>
                <a:lnTo>
                  <a:pt x="27060" y="527359"/>
                </a:lnTo>
                <a:lnTo>
                  <a:pt x="56424" y="547166"/>
                </a:lnTo>
                <a:lnTo>
                  <a:pt x="92375" y="554428"/>
                </a:lnTo>
                <a:lnTo>
                  <a:pt x="6150720" y="554428"/>
                </a:lnTo>
                <a:lnTo>
                  <a:pt x="6186671" y="547166"/>
                </a:lnTo>
                <a:lnTo>
                  <a:pt x="6216035" y="527359"/>
                </a:lnTo>
                <a:lnTo>
                  <a:pt x="6235834" y="497979"/>
                </a:lnTo>
                <a:lnTo>
                  <a:pt x="6243096" y="461994"/>
                </a:lnTo>
                <a:lnTo>
                  <a:pt x="6243096" y="92434"/>
                </a:lnTo>
                <a:lnTo>
                  <a:pt x="6235834" y="56449"/>
                </a:lnTo>
                <a:lnTo>
                  <a:pt x="6216035" y="27068"/>
                </a:lnTo>
                <a:lnTo>
                  <a:pt x="6186671" y="7262"/>
                </a:lnTo>
                <a:lnTo>
                  <a:pt x="6150720" y="0"/>
                </a:lnTo>
                <a:close/>
              </a:path>
            </a:pathLst>
          </a:custGeom>
          <a:solidFill xmlns:a="http://schemas.openxmlformats.org/drawingml/2006/main">
            <a:srgbClr val="09662E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8154AB2-2746-4AED-91E2-A5A9DF67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96" y="8988889"/>
            <a:ext cx="6097270" cy="26568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429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 algn="just">
              <a:lnSpc>
                <a:spcPts val="1410"/>
              </a:lnSpc>
              <a:spcBef>
                <a:spcPts val="270"/>
              </a:spcBef>
              <a:buNone/>
            </a:pPr>
            <a:r>
              <a:rPr sz="1300" spc="-10">
                <a:latin typeface="Calibri"/>
                <a:ea typeface="Calibri"/>
                <a:cs typeface="Calibri"/>
              </a:rPr>
              <a:t>.</a:t>
            </a:r>
            <a:endParaRPr sz="1300">
              <a:latin typeface="Calibri"/>
              <a:ea typeface="Calibri"/>
              <a:cs typeface="Calibri"/>
            </a:endParaRPr>
          </a:p>
          <a:p xmlns:a="http://schemas.openxmlformats.org/drawingml/2006/main">
            <a:pPr marL="43180">
              <a:lnSpc>
                <a:spcPct val="100000"/>
              </a:lnSpc>
              <a:spcBef>
                <a:spcPts val="380"/>
              </a:spcBef>
              <a:buNone/>
            </a:pPr>
            <a:r>
              <a:rPr sz="3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</a:t>
            </a:r>
            <a:r>
              <a:rPr sz="3050" b="1" spc="-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PLANTEAMIENTO</a:t>
            </a:r>
            <a:r>
              <a:rPr sz="3050" b="1" spc="-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</a:t>
            </a:r>
            <a:r>
              <a:rPr sz="3050" b="1" spc="-4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050" b="1" spc="-1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PROBLEMA.</a:t>
            </a:r>
            <a:endParaRPr sz="3050"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700" marR="5080" algn="just">
              <a:lnSpc>
                <a:spcPts val="1410"/>
              </a:lnSpc>
              <a:spcBef>
                <a:spcPts val="1255"/>
              </a:spcBef>
              <a:buNone/>
            </a:pPr>
            <a:r>
              <a:rPr>
                <a:latin typeface="+mn-lt"/>
                <a:ea typeface="+mn-lt"/>
                <a:cs typeface="+mn-lt"/>
              </a:rPr>
              <a:t>En muchas </a:t>
            </a:r>
            <a:r>
              <a:rPr>
                <a:latin typeface="+mn-lt"/>
                <a:ea typeface="+mn-lt"/>
                <a:cs typeface="+mn-lt"/>
              </a:rPr>
              <a:t>PYMEs</a:t>
            </a:r>
            <a:r>
              <a:rPr>
                <a:latin typeface="+mn-lt"/>
                <a:ea typeface="+mn-lt"/>
                <a:cs typeface="+mn-lt"/>
              </a:rPr>
              <a:t>, la gestión del inventario se realiza con métodos manuales o poco confiables, generando errores de registro, duplicación de datos y descontrol sobre las existencias. Esta falta de automatización ocasiona demoras en las operaciones, desabastecimiento o exceso de productos, y decisiones imprecisas que afectan la eficiencia del negocio.</a:t>
            </a:r>
          </a:p>
          <a:p xmlns:a="http://schemas.openxmlformats.org/drawingml/2006/main">
            <a:pPr marL="12700" marR="5080" algn="just">
              <a:lnSpc>
                <a:spcPts val="1410"/>
              </a:lnSpc>
              <a:spcBef>
                <a:spcPts val="1255"/>
              </a:spcBef>
              <a:buNone/>
            </a:pPr>
            <a:r>
              <a:rPr>
                <a:latin typeface="+mn-lt"/>
                <a:ea typeface="+mn-lt"/>
                <a:cs typeface="+mn-lt"/>
              </a:rPr>
              <a:t>Ante esta problemática, se identificó la necesidad de un sistema digital que centralice la información y permita </a:t>
            </a:r>
            <a:r>
              <a:rPr>
                <a:latin typeface="+mn-lt"/>
                <a:ea typeface="+mn-lt"/>
                <a:cs typeface="+mn-lt"/>
              </a:rPr>
              <a:t>actualizar el stock de forma automática en la base de datos local</a:t>
            </a:r>
            <a:r>
              <a:rPr>
                <a:latin typeface="+mn-lt"/>
                <a:ea typeface="+mn-lt"/>
                <a:cs typeface="+mn-lt"/>
              </a:rPr>
              <a:t>, garantizando precisión, rapidez y transparencia en los procesos de inventario.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9E7BD42F-FBBF-4B94-AC83-A80B6D86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084" y="12375519"/>
            <a:ext cx="6243320" cy="554990"/>
          </a:xfrm>
          <a:custGeom xmlns:a="http://schemas.openxmlformats.org/drawingml/2006/main">
            <a:rect l="l" t="t" r="r" b="b"/>
            <a:pathLst>
              <a:path w="6243320" h="554990">
                <a:moveTo>
                  <a:pt x="6150720" y="0"/>
                </a:moveTo>
                <a:lnTo>
                  <a:pt x="92375" y="0"/>
                </a:lnTo>
                <a:lnTo>
                  <a:pt x="56424" y="7262"/>
                </a:lnTo>
                <a:lnTo>
                  <a:pt x="27060" y="27068"/>
                </a:lnTo>
                <a:lnTo>
                  <a:pt x="7261" y="56449"/>
                </a:lnTo>
                <a:lnTo>
                  <a:pt x="0" y="92434"/>
                </a:lnTo>
                <a:lnTo>
                  <a:pt x="0" y="461994"/>
                </a:lnTo>
                <a:lnTo>
                  <a:pt x="7261" y="497979"/>
                </a:lnTo>
                <a:lnTo>
                  <a:pt x="27060" y="527359"/>
                </a:lnTo>
                <a:lnTo>
                  <a:pt x="56424" y="547166"/>
                </a:lnTo>
                <a:lnTo>
                  <a:pt x="92375" y="554428"/>
                </a:lnTo>
                <a:lnTo>
                  <a:pt x="6150720" y="554428"/>
                </a:lnTo>
                <a:lnTo>
                  <a:pt x="6186671" y="547166"/>
                </a:lnTo>
                <a:lnTo>
                  <a:pt x="6216035" y="527359"/>
                </a:lnTo>
                <a:lnTo>
                  <a:pt x="6235834" y="497979"/>
                </a:lnTo>
                <a:lnTo>
                  <a:pt x="6243096" y="461994"/>
                </a:lnTo>
                <a:lnTo>
                  <a:pt x="6243096" y="92434"/>
                </a:lnTo>
                <a:lnTo>
                  <a:pt x="6235834" y="56449"/>
                </a:lnTo>
                <a:lnTo>
                  <a:pt x="6216035" y="27068"/>
                </a:lnTo>
                <a:lnTo>
                  <a:pt x="6186671" y="7262"/>
                </a:lnTo>
                <a:lnTo>
                  <a:pt x="6150720" y="0"/>
                </a:lnTo>
                <a:close/>
              </a:path>
            </a:pathLst>
          </a:custGeom>
          <a:solidFill xmlns:a="http://schemas.openxmlformats.org/drawingml/2006/main">
            <a:srgbClr val="09662E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67602A53-1C81-4042-9320-2D1B4568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11" y="12436000"/>
            <a:ext cx="6066155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3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</a:t>
            </a:r>
            <a:r>
              <a:rPr sz="3050" b="1" spc="-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050" b="1" spc="-1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METODOLOGÍA.</a:t>
            </a: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endParaRPr sz="305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>
                <a:latin typeface="+mj-lt"/>
                <a:ea typeface="+mj-lt"/>
                <a:cs typeface="+mj-lt"/>
              </a:rPr>
              <a:t>El desarrollo se realizó bajo la metodología ágil Scrum, dividiendo el trabajo en sprints con tareas de análisis, diseño, desarrollo y pruebas.</a:t>
            </a:r>
          </a:p>
          <a:p xmlns:a="http://schemas.openxmlformats.org/drawingml/2006/main">
            <a:br>
              <a:rPr>
                <a:latin typeface="+mj-lt"/>
                <a:ea typeface="+mj-lt"/>
                <a:cs typeface="+mj-lt"/>
              </a:rPr>
            </a:br>
            <a:r>
              <a:rPr>
                <a:latin typeface="+mj-lt"/>
                <a:ea typeface="+mj-lt"/>
                <a:cs typeface="+mj-lt"/>
              </a:rPr>
              <a:t>La aplicación se desarrolló con React Native y Expo. Expo Router gestiona la navegación y Expo SQLite almacena localmente la información. El sistema utiliza autenticación por roles y operaciones transaccionales para actualizar el inventario al registrar o modificar compras.</a:t>
            </a:r>
            <a:endParaRPr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>
                <a:latin typeface="+mj-lt"/>
                <a:ea typeface="+mj-lt"/>
                <a:cs typeface="+mj-lt"/>
              </a:rPr>
              <a:t>El proceso iterativo permitió comprobar el funcionamiento de cada módulo.</a:t>
            </a: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1B26D4D9-E3BD-412E-84AF-549FCB94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626" y="4726629"/>
            <a:ext cx="6243320" cy="554990"/>
          </a:xfrm>
          <a:custGeom xmlns:a="http://schemas.openxmlformats.org/drawingml/2006/main">
            <a:rect l="l" t="t" r="r" b="b"/>
            <a:pathLst>
              <a:path w="6243319" h="554990">
                <a:moveTo>
                  <a:pt x="6150720" y="0"/>
                </a:moveTo>
                <a:lnTo>
                  <a:pt x="92375" y="0"/>
                </a:lnTo>
                <a:lnTo>
                  <a:pt x="56424" y="7261"/>
                </a:lnTo>
                <a:lnTo>
                  <a:pt x="27060" y="27060"/>
                </a:lnTo>
                <a:lnTo>
                  <a:pt x="7261" y="56424"/>
                </a:lnTo>
                <a:lnTo>
                  <a:pt x="0" y="92375"/>
                </a:lnTo>
                <a:lnTo>
                  <a:pt x="0" y="461994"/>
                </a:lnTo>
                <a:lnTo>
                  <a:pt x="7261" y="497979"/>
                </a:lnTo>
                <a:lnTo>
                  <a:pt x="27060" y="527359"/>
                </a:lnTo>
                <a:lnTo>
                  <a:pt x="56424" y="547166"/>
                </a:lnTo>
                <a:lnTo>
                  <a:pt x="92375" y="554428"/>
                </a:lnTo>
                <a:lnTo>
                  <a:pt x="6150720" y="554428"/>
                </a:lnTo>
                <a:lnTo>
                  <a:pt x="6186671" y="547166"/>
                </a:lnTo>
                <a:lnTo>
                  <a:pt x="6216035" y="527359"/>
                </a:lnTo>
                <a:lnTo>
                  <a:pt x="6235834" y="497979"/>
                </a:lnTo>
                <a:lnTo>
                  <a:pt x="6243096" y="461994"/>
                </a:lnTo>
                <a:lnTo>
                  <a:pt x="6243096" y="92375"/>
                </a:lnTo>
                <a:lnTo>
                  <a:pt x="6235834" y="56424"/>
                </a:lnTo>
                <a:lnTo>
                  <a:pt x="6216035" y="27060"/>
                </a:lnTo>
                <a:lnTo>
                  <a:pt x="6186671" y="7261"/>
                </a:lnTo>
                <a:lnTo>
                  <a:pt x="6150720" y="0"/>
                </a:lnTo>
                <a:close/>
              </a:path>
            </a:pathLst>
          </a:custGeom>
          <a:solidFill xmlns:a="http://schemas.openxmlformats.org/drawingml/2006/main">
            <a:srgbClr val="09662E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DDE8C32D-5353-42DB-9CCE-919455AC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602" y="4825706"/>
            <a:ext cx="5842448" cy="288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427355" indent="-387985">
              <a:lnSpc>
                <a:spcPct val="100000"/>
              </a:lnSpc>
              <a:spcBef>
                <a:spcPts val="120"/>
              </a:spcBef>
              <a:buAutoNum type="arabicPeriod" startAt="4"/>
              <a:tabLst>
                <a:tab pos="427355" algn="l"/>
              </a:tabLst>
            </a:pPr>
            <a:r>
              <a:rPr sz="3050" b="1" spc="-3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RESULTADOS.</a:t>
            </a:r>
            <a:endParaRPr sz="3050">
              <a:latin typeface="Calibri"/>
              <a:ea typeface="Calibri"/>
              <a:cs typeface="Calibri"/>
            </a:endParaRPr>
          </a:p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Las vistas de SmartStock muestran un sistema móvil de gestión de inventario con módulos de clientes, productos, compras y estadísticas.</a:t>
            </a:r>
          </a:p>
          <a:p xmlns:a="http://schemas.openxmlformats.org/drawingml/2006/main">
            <a:br>
              <a:rPr>
                <a:latin typeface="+mn-lt"/>
                <a:ea typeface="+mn-lt"/>
                <a:cs typeface="+mn-lt"/>
              </a:rPr>
            </a:br>
            <a:r>
              <a:rPr>
                <a:latin typeface="+mn-lt"/>
                <a:ea typeface="+mn-lt"/>
                <a:cs typeface="+mn-lt"/>
              </a:rPr>
              <a:t>Entre sus funciones destacan: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b="1">
                <a:latin typeface="+mn-lt"/>
                <a:ea typeface="+mn-lt"/>
                <a:cs typeface="+mn-lt"/>
              </a:rPr>
              <a:t>Gestión de productos: registro, edición, búsqueda y control de existencias.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b="1">
                <a:latin typeface="+mn-lt"/>
                <a:ea typeface="+mn-lt"/>
                <a:cs typeface="+mn-lt"/>
              </a:rPr>
              <a:t>Registro de compras con actualización automática del inventario local.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b="1">
                <a:latin typeface="+mn-lt"/>
                <a:ea typeface="+mn-lt"/>
                <a:cs typeface="+mn-lt"/>
              </a:rPr>
              <a:t>Estadísticas visuales para consultar ingresos, compras y alertas de stock.</a:t>
            </a:r>
          </a:p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La implementación del sistema permitió mejorar la organización interna, reducir errores humanos y ofrecer información actualizada.</a:t>
            </a:r>
          </a:p>
          <a:p xmlns:a="http://schemas.openxmlformats.org/drawingml/2006/main">
            <a:pPr marL="1270" lvl="1">
              <a:lnSpc>
                <a:spcPct val="100000"/>
              </a:lnSpc>
              <a:spcBef>
                <a:spcPts val="2240"/>
              </a:spcBef>
              <a:buSzPct val="88461"/>
              <a:buNone/>
              <a:tabLst>
                <a:tab pos="125095" algn="l"/>
              </a:tabLst>
            </a:pPr>
            <a:endParaRPr sz="1300">
              <a:latin typeface="Calibri"/>
              <a:ea typeface="Calibri"/>
              <a:cs typeface="Calibri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E127A127-9B56-4466-B5BD-8E4535C2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018" y="16891218"/>
            <a:ext cx="6243320" cy="554990"/>
          </a:xfrm>
          <a:custGeom xmlns:a="http://schemas.openxmlformats.org/drawingml/2006/main">
            <a:rect l="l" t="t" r="r" b="b"/>
            <a:pathLst>
              <a:path w="6243320" h="554990">
                <a:moveTo>
                  <a:pt x="6150720" y="0"/>
                </a:moveTo>
                <a:lnTo>
                  <a:pt x="92434" y="0"/>
                </a:lnTo>
                <a:lnTo>
                  <a:pt x="56449" y="7261"/>
                </a:lnTo>
                <a:lnTo>
                  <a:pt x="27068" y="27060"/>
                </a:lnTo>
                <a:lnTo>
                  <a:pt x="7262" y="56424"/>
                </a:lnTo>
                <a:lnTo>
                  <a:pt x="0" y="92375"/>
                </a:lnTo>
                <a:lnTo>
                  <a:pt x="0" y="461994"/>
                </a:lnTo>
                <a:lnTo>
                  <a:pt x="7262" y="497945"/>
                </a:lnTo>
                <a:lnTo>
                  <a:pt x="27068" y="527308"/>
                </a:lnTo>
                <a:lnTo>
                  <a:pt x="56449" y="547108"/>
                </a:lnTo>
                <a:lnTo>
                  <a:pt x="92434" y="554369"/>
                </a:lnTo>
                <a:lnTo>
                  <a:pt x="6150720" y="554369"/>
                </a:lnTo>
                <a:lnTo>
                  <a:pt x="6186706" y="547108"/>
                </a:lnTo>
                <a:lnTo>
                  <a:pt x="6216086" y="527308"/>
                </a:lnTo>
                <a:lnTo>
                  <a:pt x="6235893" y="497945"/>
                </a:lnTo>
                <a:lnTo>
                  <a:pt x="6243155" y="461994"/>
                </a:lnTo>
                <a:lnTo>
                  <a:pt x="6243155" y="92375"/>
                </a:lnTo>
                <a:lnTo>
                  <a:pt x="6235893" y="56424"/>
                </a:lnTo>
                <a:lnTo>
                  <a:pt x="6216086" y="27060"/>
                </a:lnTo>
                <a:lnTo>
                  <a:pt x="6186706" y="7261"/>
                </a:lnTo>
                <a:lnTo>
                  <a:pt x="6150720" y="0"/>
                </a:lnTo>
                <a:close/>
              </a:path>
            </a:pathLst>
          </a:custGeom>
          <a:solidFill xmlns:a="http://schemas.openxmlformats.org/drawingml/2006/main">
            <a:srgbClr val="09662E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3582A45B-63C8-4708-B10A-45E916B2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62" y="535521"/>
            <a:ext cx="3899535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0325" rIns="0" bIns="0" anchor="t">
            <a:spAutoFit/>
          </a:bodyPr>
          <a:lstStyle xmlns:a="http://schemas.openxmlformats.org/drawingml/2006/main"/>
          <a:p xmlns:a="http://schemas.openxmlformats.org/drawingml/2006/main">
            <a:pPr marL="12700" marR="5080" indent="-635" algn="ctr">
              <a:lnSpc>
                <a:spcPts val="3020"/>
              </a:lnSpc>
              <a:spcBef>
                <a:spcPts val="475"/>
              </a:spcBef>
              <a:buNone/>
            </a:pPr>
            <a:r>
              <a:rPr sz="2800" b="1" spc="-20">
                <a:solidFill>
                  <a:srgbClr val="09662E"/>
                </a:solidFill>
                <a:latin typeface="Calibri"/>
                <a:ea typeface="Calibri"/>
                <a:cs typeface="Calibri"/>
              </a:rPr>
              <a:t>TERCERA</a:t>
            </a:r>
            <a:r>
              <a:rPr sz="2800" b="1" spc="-120">
                <a:solidFill>
                  <a:srgbClr val="0966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spc="-20">
                <a:solidFill>
                  <a:srgbClr val="09662E"/>
                </a:solidFill>
                <a:latin typeface="Calibri"/>
                <a:ea typeface="Calibri"/>
                <a:cs typeface="Calibri"/>
              </a:rPr>
              <a:t>FERIA </a:t>
            </a:r>
            <a:r>
              <a:rPr sz="2800" b="1" spc="-25">
                <a:solidFill>
                  <a:srgbClr val="09662E"/>
                </a:solidFill>
                <a:latin typeface="Calibri"/>
                <a:ea typeface="Calibri"/>
                <a:cs typeface="Calibri"/>
              </a:rPr>
              <a:t>PROYECTO</a:t>
            </a:r>
            <a:r>
              <a:rPr sz="2800" b="1" spc="-95">
                <a:solidFill>
                  <a:srgbClr val="0966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spc="-10">
                <a:solidFill>
                  <a:srgbClr val="09662E"/>
                </a:solidFill>
                <a:latin typeface="Calibri"/>
                <a:ea typeface="Calibri"/>
                <a:cs typeface="Calibri"/>
              </a:rPr>
              <a:t>PEDAGÓGICO INTEGRADOR</a:t>
            </a:r>
            <a:r>
              <a:rPr sz="2800" b="1" spc="-105">
                <a:solidFill>
                  <a:srgbClr val="0966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spc="-10">
                <a:solidFill>
                  <a:srgbClr val="09662E"/>
                </a:solidFill>
                <a:latin typeface="Calibri"/>
                <a:ea typeface="Calibri"/>
                <a:cs typeface="Calibri"/>
              </a:rPr>
              <a:t>(PPI) </a:t>
            </a:r>
            <a:r>
              <a:rPr sz="2800" b="1" spc="-90">
                <a:solidFill>
                  <a:srgbClr val="09662E"/>
                </a:solidFill>
                <a:latin typeface="Calibri"/>
                <a:ea typeface="Calibri"/>
                <a:cs typeface="Calibri"/>
              </a:rPr>
              <a:t>FACULTAD</a:t>
            </a:r>
            <a:r>
              <a:rPr sz="2800" b="1" spc="-35">
                <a:solidFill>
                  <a:srgbClr val="0966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>
                <a:solidFill>
                  <a:srgbClr val="09662E"/>
                </a:solidFill>
                <a:latin typeface="Calibri"/>
                <a:ea typeface="Calibri"/>
                <a:cs typeface="Calibri"/>
              </a:rPr>
              <a:t>DE</a:t>
            </a:r>
            <a:r>
              <a:rPr sz="2800" b="1" spc="-35">
                <a:solidFill>
                  <a:srgbClr val="0966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spc="-10">
                <a:solidFill>
                  <a:srgbClr val="09662E"/>
                </a:solidFill>
                <a:latin typeface="Calibri"/>
                <a:ea typeface="Calibri"/>
                <a:cs typeface="Calibri"/>
              </a:rPr>
              <a:t>INGENIERÍA.</a:t>
            </a:r>
            <a:endParaRPr sz="2800">
              <a:latin typeface="Calibri"/>
              <a:ea typeface="Calibri"/>
              <a:cs typeface="Calibri"/>
            </a:endParaRPr>
          </a:p>
        </p:txBody>
      </p:sp>
      <p:pic>
        <p:nvPicPr>
          <p:cNvPr id="27" name="Imagen 26">
            <a:extLst xmlns:a="http://schemas.openxmlformats.org/drawingml/2006/main">
              <a:ext uri="{FF2B5EF4-FFF2-40B4-BE49-F238E27FC236}">
                <a16:creationId xmlns:a16="http://schemas.microsoft.com/office/drawing/2014/main" id="{2D99EE0A-DACA-4624-AC44-049ED511DC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43553b2674fa8"/>
          <a:srcRect xmlns:a="http://schemas.openxmlformats.org/drawingml/2006/main" l="0" t="69" r="0" b="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0" y="9191625"/>
            <a:ext cx="3429000" cy="1555909"/>
          </a:xfrm>
          <a:prstGeom xmlns:a="http://schemas.openxmlformats.org/drawingml/2006/main" prst="rect">
            <a:avLst/>
          </a:prstGeom>
        </p:spPr>
      </p:pic>
      <p:pic>
        <p:nvPicPr>
          <p:cNvPr id="29" name="Imagen 28">
            <a:extLst xmlns:a="http://schemas.openxmlformats.org/drawingml/2006/main">
              <a:ext uri="{FF2B5EF4-FFF2-40B4-BE49-F238E27FC236}">
                <a16:creationId xmlns:a16="http://schemas.microsoft.com/office/drawing/2014/main" id="{6FAE5832-310F-4F97-B0CC-3FEAFC945E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00d1ce472428f"/>
          <a:srcRect xmlns:a="http://schemas.openxmlformats.org/drawingml/2006/main" l="414" t="0" r="4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0000" y="9191625"/>
            <a:ext cx="3524250" cy="1599152"/>
          </a:xfrm>
          <a:prstGeom xmlns:a="http://schemas.openxmlformats.org/drawingml/2006/main" prst="rect">
            <a:avLst/>
          </a:prstGeom>
        </p:spPr>
      </p:pic>
      <p:sp>
        <p:nvSpPr>
          <p:cNvPr id="33" name="object 9">
            <a:extLst xmlns:a="http://schemas.openxmlformats.org/drawingml/2006/main">
              <a:ext uri="{FF2B5EF4-FFF2-40B4-BE49-F238E27FC236}">
                <a16:creationId xmlns:a16="http://schemas.microsoft.com/office/drawing/2014/main" id="{00C8CDE6-8545-40F1-B6CB-C6BA14B0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791575"/>
            <a:ext cx="3429000" cy="213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429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 algn="just">
              <a:lnSpc>
                <a:spcPts val="1410"/>
              </a:lnSpc>
              <a:spcBef>
                <a:spcPts val="270"/>
              </a:spcBef>
              <a:buNone/>
            </a:pPr>
            <a:r>
              <a:rPr sz="1300" spc="-10">
                <a:latin typeface="Calibri"/>
                <a:ea typeface="Calibri"/>
                <a:cs typeface="Calibri"/>
              </a:rPr>
              <a:t>INICIO DE SESIÓN</a:t>
            </a:r>
            <a:endParaRPr sz="1300">
              <a:latin typeface="Calibri"/>
              <a:ea typeface="Calibri"/>
              <a:cs typeface="Calibri"/>
            </a:endParaRPr>
          </a:p>
        </p:txBody>
      </p:sp>
      <p:sp>
        <p:nvSpPr>
          <p:cNvPr id="34" name="object 9">
            <a:extLst xmlns:a="http://schemas.openxmlformats.org/drawingml/2006/main">
              <a:ext uri="{FF2B5EF4-FFF2-40B4-BE49-F238E27FC236}">
                <a16:creationId xmlns:a16="http://schemas.microsoft.com/office/drawing/2014/main" id="{901C2BF3-3031-4A05-A870-02434DD4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8791575"/>
            <a:ext cx="3524250" cy="213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429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 algn="just">
              <a:lnSpc>
                <a:spcPts val="1410"/>
              </a:lnSpc>
              <a:spcBef>
                <a:spcPts val="270"/>
              </a:spcBef>
              <a:buNone/>
            </a:pPr>
            <a:r>
              <a:rPr sz="1400">
                <a:latin typeface="Calibri"/>
                <a:ea typeface="Calibri"/>
                <a:cs typeface="Calibri"/>
              </a:rPr>
              <a:t>PANEL ADMINISTRATIVO</a:t>
            </a:r>
          </a:p>
        </p:txBody>
      </p:sp>
      <p:sp>
        <p:nvSpPr>
          <p:cNvPr id="35" name="object 9">
            <a:extLst xmlns:a="http://schemas.openxmlformats.org/drawingml/2006/main">
              <a:ext uri="{FF2B5EF4-FFF2-40B4-BE49-F238E27FC236}">
                <a16:creationId xmlns:a16="http://schemas.microsoft.com/office/drawing/2014/main" id="{235DAD5F-000B-40AA-B7C5-E1CD9874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1468100"/>
            <a:ext cx="7239000" cy="213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429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 algn="just">
              <a:lnSpc>
                <a:spcPts val="1410"/>
              </a:lnSpc>
              <a:spcBef>
                <a:spcPts val="270"/>
              </a:spcBef>
              <a:buNone/>
            </a:pPr>
            <a:r>
              <a:t>ÁREA DE CLIENTE</a:t>
            </a:r>
            <a:endParaRPr sz="1300">
              <a:latin typeface="Calibri"/>
              <a:ea typeface="Calibri"/>
              <a:cs typeface="Calibri"/>
            </a:endParaRPr>
          </a:p>
        </p:txBody>
      </p:sp>
      <p:pic>
        <p:nvPicPr>
          <p:cNvPr id="38" name="Imagen 37">
            <a:extLst xmlns:a="http://schemas.openxmlformats.org/drawingml/2006/main">
              <a:ext uri="{FF2B5EF4-FFF2-40B4-BE49-F238E27FC236}">
                <a16:creationId xmlns:a16="http://schemas.microsoft.com/office/drawing/2014/main" id="{A27B29A1-3D71-4C98-A9A1-46A939EB0D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5fc6cfa414a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0" y="11858625"/>
            <a:ext cx="7239000" cy="3284696"/>
          </a:xfrm>
          <a:prstGeom xmlns:a="http://schemas.openxmlformats.org/drawingml/2006/main" prst="rect">
            <a:avLst/>
          </a:prstGeom>
        </p:spPr>
      </p:pic>
      <p:pic>
        <p:nvPicPr>
          <p:cNvPr id="40" name="Imagen 39">
            <a:extLst xmlns:a="http://schemas.openxmlformats.org/drawingml/2006/main">
              <a:ext uri="{FF2B5EF4-FFF2-40B4-BE49-F238E27FC236}">
                <a16:creationId xmlns:a16="http://schemas.microsoft.com/office/drawing/2014/main" id="{D96462A1-DC05-4DBB-BA44-32C902785D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ed9c0a3e84f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42" name="object 9">
            <a:extLst xmlns:a="http://schemas.openxmlformats.org/drawingml/2006/main">
              <a:ext uri="{FF2B5EF4-FFF2-40B4-BE49-F238E27FC236}">
                <a16:creationId xmlns:a16="http://schemas.microsoft.com/office/drawing/2014/main" id="{A401BAC2-881D-4A58-9EFF-D4A7EAAC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13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429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 algn="just">
              <a:lnSpc>
                <a:spcPts val="1410"/>
              </a:lnSpc>
              <a:spcBef>
                <a:spcPts val="270"/>
              </a:spcBef>
              <a:buNone/>
            </a:pPr>
            <a:r>
              <a:rPr sz="1400"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3" name="object 11">
            <a:extLst xmlns:a="http://schemas.openxmlformats.org/drawingml/2006/main">
              <a:ext uri="{FF2B5EF4-FFF2-40B4-BE49-F238E27FC236}">
                <a16:creationId xmlns:a16="http://schemas.microsoft.com/office/drawing/2014/main" id="{BA63BFA5-CA15-4A32-9398-1FBEFEC2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018" y="16931838"/>
            <a:ext cx="9339737" cy="11201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3050" b="1" spc="-1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Recomendaciones futuras.</a:t>
            </a:r>
          </a:p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Se recomienda implementar notificaciones automáticas, copias de seguridad y mejoras de accesibilidad en la aplicación móvil.</a:t>
            </a:r>
            <a:endParaRPr>
              <a:latin typeface="+mn-lt"/>
              <a:ea typeface="+mn-lt"/>
              <a:cs typeface="+mn-lt"/>
            </a:endParaRPr>
          </a:p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También sería útil añadir sincronización en la nube, exportación de informes y un módulo de auditoría para consultar el historial de cambios.</a:t>
            </a:r>
          </a:p>
        </p:txBody>
      </p:sp>
    </p:spTree>
    <p:extLst>
      <p:ext uri="{BB962C8B-B14F-4D97-AF65-F5344CB8AC3E}">
        <p14:creationId xmlns:p14="http://schemas.microsoft.com/office/powerpoint/2010/main" val="161910839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2026-10-13T14:00:27.5050000Z</dcterms:created>
  <dcterms:modified xsi:type="dcterms:W3CDTF">2026-10-13T14:00:27.5050000Z</dcterms:modified>
</coreProperties>
</file>